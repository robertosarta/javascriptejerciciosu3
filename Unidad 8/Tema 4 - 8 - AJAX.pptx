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7" r:id="rId6"/>
    <p:sldId id="278" r:id="rId7"/>
    <p:sldId id="279" r:id="rId8"/>
    <p:sldId id="276" r:id="rId9"/>
  </p:sldIdLst>
  <p:sldSz cx="12192000" cy="6858000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38" y="9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4d15efd57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94d15efd57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ea3c47121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1ea3c47121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C576B94-FE95-ED2F-5FF3-C12A9763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F9278AF3-E08F-757F-52CE-22B709598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82737EDF-577F-8E92-73F3-0166BE169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872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1A4D0CEF-4AB5-2FF8-4590-344D2D99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A8F4EC9A-C3A5-76F1-C22A-45B6A3BB2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8E3AC11A-1FAA-BA64-E1F5-0DF0A4CFD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3908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3D8F7062-A1D5-FF77-FC8E-9B36AC2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d1b7e874_0_55:notes">
            <a:extLst>
              <a:ext uri="{FF2B5EF4-FFF2-40B4-BE49-F238E27FC236}">
                <a16:creationId xmlns:a16="http://schemas.microsoft.com/office/drawing/2014/main" id="{AE33BB51-9858-BB35-8CF0-75974FD98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1" name="Google Shape;121;g31dd1b7e874_0_55:notes">
            <a:extLst>
              <a:ext uri="{FF2B5EF4-FFF2-40B4-BE49-F238E27FC236}">
                <a16:creationId xmlns:a16="http://schemas.microsoft.com/office/drawing/2014/main" id="{4BC934B9-6879-71BD-FB86-D81724C87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7488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7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 t="18810"/>
          <a:stretch/>
        </p:blipFill>
        <p:spPr>
          <a:xfrm>
            <a:off x="0" y="0"/>
            <a:ext cx="12192000" cy="55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0" y="4221162"/>
            <a:ext cx="12192000" cy="26814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02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5226" y="5567800"/>
            <a:ext cx="3280850" cy="8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-10925" y="4176700"/>
            <a:ext cx="12213300" cy="890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627F"/>
              </a:buClr>
              <a:buSzPts val="3600"/>
              <a:buFont typeface="Roboto"/>
              <a:buNone/>
            </a:pPr>
            <a:r>
              <a:rPr lang="en-US" sz="3600" b="1" i="0" u="none" strike="noStrike" cap="none" dirty="0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Tema </a:t>
            </a:r>
            <a:r>
              <a:rPr lang="en-US" sz="3600" b="1" dirty="0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4 - 8</a:t>
            </a:r>
            <a:r>
              <a:rPr lang="en-US" sz="3600" b="1" i="0" u="none" strike="noStrike" cap="none" dirty="0">
                <a:solidFill>
                  <a:srgbClr val="08627F"/>
                </a:solidFill>
                <a:latin typeface="Roboto"/>
                <a:ea typeface="Roboto"/>
                <a:cs typeface="Roboto"/>
                <a:sym typeface="Roboto"/>
              </a:rPr>
              <a:t>: AJAX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838200" y="282575"/>
            <a:ext cx="7259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Roboto"/>
              <a:buNone/>
            </a:pPr>
            <a:r>
              <a:rPr lang="en-US" sz="4400" b="1" i="0" u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Contenidos</a:t>
            </a:r>
            <a:endParaRPr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838200" y="1852600"/>
            <a:ext cx="73341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s-ES" sz="2400" dirty="0"/>
              <a:t>API REST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s-ES" sz="2400" dirty="0"/>
              <a:t>Consumir una API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s-ES" sz="2400" dirty="0"/>
              <a:t>JSON</a:t>
            </a:r>
            <a:endParaRPr sz="2400" dirty="0"/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Fetch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l="14527"/>
          <a:stretch/>
        </p:blipFill>
        <p:spPr>
          <a:xfrm>
            <a:off x="8275312" y="0"/>
            <a:ext cx="39155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4"/>
          <p:cNvGrpSpPr/>
          <p:nvPr/>
        </p:nvGrpSpPr>
        <p:grpSpPr>
          <a:xfrm>
            <a:off x="8501066" y="6094181"/>
            <a:ext cx="3463979" cy="454008"/>
            <a:chOff x="270050" y="6325600"/>
            <a:chExt cx="3464325" cy="453600"/>
          </a:xfrm>
        </p:grpSpPr>
        <p:sp>
          <p:nvSpPr>
            <p:cNvPr id="101" name="Google Shape;101;p14"/>
            <p:cNvSpPr/>
            <p:nvPr/>
          </p:nvSpPr>
          <p:spPr>
            <a:xfrm>
              <a:off x="270050" y="6325600"/>
              <a:ext cx="3249987" cy="453600"/>
            </a:xfrm>
            <a:custGeom>
              <a:avLst/>
              <a:gdLst/>
              <a:ahLst/>
              <a:cxnLst/>
              <a:rect l="l" t="t" r="r" b="b"/>
              <a:pathLst>
                <a:path w="3249987" h="453600" extrusionOk="0">
                  <a:moveTo>
                    <a:pt x="226800" y="0"/>
                  </a:moveTo>
                  <a:lnTo>
                    <a:pt x="3023187" y="0"/>
                  </a:lnTo>
                  <a:cubicBezTo>
                    <a:pt x="3148445" y="0"/>
                    <a:pt x="3249987" y="101542"/>
                    <a:pt x="3249987" y="226800"/>
                  </a:cubicBezTo>
                  <a:lnTo>
                    <a:pt x="3249987" y="226800"/>
                  </a:lnTo>
                  <a:cubicBezTo>
                    <a:pt x="3249987" y="352058"/>
                    <a:pt x="3148445" y="453600"/>
                    <a:pt x="3023187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38320" y="6366836"/>
              <a:ext cx="3134087" cy="366369"/>
            </a:xfrm>
            <a:custGeom>
              <a:avLst/>
              <a:gdLst/>
              <a:ahLst/>
              <a:cxnLst/>
              <a:rect l="l" t="t" r="r" b="b"/>
              <a:pathLst>
                <a:path w="3134087" h="366369" extrusionOk="0">
                  <a:moveTo>
                    <a:pt x="183185" y="0"/>
                  </a:moveTo>
                  <a:lnTo>
                    <a:pt x="2950903" y="0"/>
                  </a:lnTo>
                  <a:cubicBezTo>
                    <a:pt x="3052073" y="0"/>
                    <a:pt x="3134088" y="82015"/>
                    <a:pt x="3134088" y="183185"/>
                  </a:cubicBezTo>
                  <a:lnTo>
                    <a:pt x="3134087" y="183185"/>
                  </a:lnTo>
                  <a:cubicBezTo>
                    <a:pt x="3134087" y="284355"/>
                    <a:pt x="3052072" y="366370"/>
                    <a:pt x="2950902" y="366370"/>
                  </a:cubicBezTo>
                  <a:lnTo>
                    <a:pt x="183185" y="366369"/>
                  </a:lnTo>
                  <a:cubicBezTo>
                    <a:pt x="82015" y="366369"/>
                    <a:pt x="0" y="284354"/>
                    <a:pt x="0" y="183184"/>
                  </a:cubicBezTo>
                  <a:lnTo>
                    <a:pt x="0" y="183185"/>
                  </a:lnTo>
                  <a:cubicBezTo>
                    <a:pt x="0" y="82015"/>
                    <a:pt x="82015" y="0"/>
                    <a:pt x="1831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4"/>
          <p:cNvSpPr txBox="1"/>
          <p:nvPr/>
        </p:nvSpPr>
        <p:spPr>
          <a:xfrm>
            <a:off x="8658225" y="6146800"/>
            <a:ext cx="29322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2087" y="6203950"/>
            <a:ext cx="255587" cy="25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15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5"/>
          <p:cNvGrpSpPr/>
          <p:nvPr/>
        </p:nvGrpSpPr>
        <p:grpSpPr>
          <a:xfrm>
            <a:off x="2178127" y="2865504"/>
            <a:ext cx="7364281" cy="1146201"/>
            <a:chOff x="2990101" y="2717970"/>
            <a:chExt cx="6251512" cy="1144942"/>
          </a:xfrm>
        </p:grpSpPr>
        <p:sp>
          <p:nvSpPr>
            <p:cNvPr id="112" name="Google Shape;112;p15"/>
            <p:cNvSpPr/>
            <p:nvPr/>
          </p:nvSpPr>
          <p:spPr>
            <a:xfrm>
              <a:off x="2990101" y="2717970"/>
              <a:ext cx="6251512" cy="1144942"/>
            </a:xfrm>
            <a:custGeom>
              <a:avLst/>
              <a:gdLst/>
              <a:ahLst/>
              <a:cxnLst/>
              <a:rect l="l" t="t" r="r" b="b"/>
              <a:pathLst>
                <a:path w="6251512" h="1144942" extrusionOk="0">
                  <a:moveTo>
                    <a:pt x="572471" y="0"/>
                  </a:moveTo>
                  <a:lnTo>
                    <a:pt x="5679041" y="0"/>
                  </a:lnTo>
                  <a:cubicBezTo>
                    <a:pt x="5995208" y="0"/>
                    <a:pt x="6251512" y="256304"/>
                    <a:pt x="6251512" y="572471"/>
                  </a:cubicBezTo>
                  <a:lnTo>
                    <a:pt x="6251512" y="572471"/>
                  </a:lnTo>
                  <a:cubicBezTo>
                    <a:pt x="6251512" y="888638"/>
                    <a:pt x="5995208" y="1144942"/>
                    <a:pt x="5679041" y="1144942"/>
                  </a:cubicBezTo>
                  <a:lnTo>
                    <a:pt x="572471" y="1144942"/>
                  </a:lnTo>
                  <a:cubicBezTo>
                    <a:pt x="256304" y="1144942"/>
                    <a:pt x="0" y="888638"/>
                    <a:pt x="0" y="572471"/>
                  </a:cubicBezTo>
                  <a:lnTo>
                    <a:pt x="0" y="572471"/>
                  </a:lnTo>
                  <a:cubicBezTo>
                    <a:pt x="0" y="256304"/>
                    <a:pt x="256304" y="0"/>
                    <a:pt x="57247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113925" y="2822632"/>
              <a:ext cx="6034026" cy="924516"/>
            </a:xfrm>
            <a:custGeom>
              <a:avLst/>
              <a:gdLst/>
              <a:ahLst/>
              <a:cxnLst/>
              <a:rect l="l" t="t" r="r" b="b"/>
              <a:pathLst>
                <a:path w="6034026" h="924516" extrusionOk="0">
                  <a:moveTo>
                    <a:pt x="462258" y="0"/>
                  </a:moveTo>
                  <a:lnTo>
                    <a:pt x="5571768" y="0"/>
                  </a:lnTo>
                  <a:cubicBezTo>
                    <a:pt x="5827066" y="0"/>
                    <a:pt x="6034026" y="206960"/>
                    <a:pt x="6034026" y="462258"/>
                  </a:cubicBezTo>
                  <a:lnTo>
                    <a:pt x="6034026" y="462258"/>
                  </a:lnTo>
                  <a:cubicBezTo>
                    <a:pt x="6034026" y="717556"/>
                    <a:pt x="5827066" y="924516"/>
                    <a:pt x="5571768" y="924516"/>
                  </a:cubicBezTo>
                  <a:lnTo>
                    <a:pt x="462258" y="924516"/>
                  </a:lnTo>
                  <a:cubicBezTo>
                    <a:pt x="206960" y="924516"/>
                    <a:pt x="0" y="717556"/>
                    <a:pt x="0" y="462258"/>
                  </a:cubicBezTo>
                  <a:lnTo>
                    <a:pt x="0" y="462258"/>
                  </a:lnTo>
                  <a:cubicBezTo>
                    <a:pt x="0" y="206960"/>
                    <a:pt x="206960" y="0"/>
                    <a:pt x="462258" y="0"/>
                  </a:cubicBezTo>
                  <a:close/>
                </a:path>
              </a:pathLst>
            </a:custGeom>
            <a:solidFill>
              <a:srgbClr val="329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5"/>
          <p:cNvSpPr/>
          <p:nvPr/>
        </p:nvSpPr>
        <p:spPr>
          <a:xfrm>
            <a:off x="8281900" y="2571750"/>
            <a:ext cx="1731900" cy="1714500"/>
          </a:xfrm>
          <a:prstGeom prst="ellipse">
            <a:avLst/>
          </a:prstGeom>
          <a:solidFill>
            <a:srgbClr val="0141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3798800" y="3132137"/>
            <a:ext cx="5064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b="1" dirty="0">
                <a:solidFill>
                  <a:srgbClr val="FFFFFF"/>
                </a:solidFill>
              </a:rPr>
              <a:t>API REST</a:t>
            </a:r>
            <a:endParaRPr dirty="0"/>
          </a:p>
        </p:txBody>
      </p:sp>
      <p:sp>
        <p:nvSpPr>
          <p:cNvPr id="116" name="Google Shape;116;p15"/>
          <p:cNvSpPr/>
          <p:nvPr/>
        </p:nvSpPr>
        <p:spPr>
          <a:xfrm>
            <a:off x="8402550" y="2703512"/>
            <a:ext cx="1492200" cy="1390800"/>
          </a:xfrm>
          <a:prstGeom prst="ellipse">
            <a:avLst/>
          </a:prstGeom>
          <a:solidFill>
            <a:srgbClr val="3298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6413" y="3057525"/>
            <a:ext cx="7429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76380" y="5693900"/>
            <a:ext cx="2736620" cy="74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71500" y="1415241"/>
            <a:ext cx="5206807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¿Que es REST?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Protocolo</a:t>
            </a:r>
            <a:r>
              <a:rPr lang="en-US" sz="2000" dirty="0">
                <a:solidFill>
                  <a:srgbClr val="22627E"/>
                </a:solidFill>
              </a:rPr>
              <a:t> para </a:t>
            </a:r>
            <a:r>
              <a:rPr lang="en-US" sz="2000" dirty="0" err="1">
                <a:solidFill>
                  <a:srgbClr val="22627E"/>
                </a:solidFill>
              </a:rPr>
              <a:t>transferir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información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mediante</a:t>
            </a:r>
            <a:r>
              <a:rPr lang="en-US" sz="2000" dirty="0">
                <a:solidFill>
                  <a:srgbClr val="22627E"/>
                </a:solidFill>
              </a:rPr>
              <a:t> HTTP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Arquitectura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Cliente-Servidor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Uso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verbos</a:t>
            </a:r>
            <a:r>
              <a:rPr lang="en-US" sz="2000" dirty="0">
                <a:solidFill>
                  <a:srgbClr val="22627E"/>
                </a:solidFill>
              </a:rPr>
              <a:t> HTTP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Formato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estándar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datos</a:t>
            </a:r>
            <a:r>
              <a:rPr lang="en-US" sz="2000" dirty="0">
                <a:solidFill>
                  <a:srgbClr val="22627E"/>
                </a:solidFill>
              </a:rPr>
              <a:t> ( JSON, XML o HTTP )</a:t>
            </a:r>
            <a:endParaRPr sz="2200" dirty="0">
              <a:solidFill>
                <a:srgbClr val="22627E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AJAX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/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/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What Is A REST API Examples Uses And Challenges Rest Web Services For ...">
            <a:extLst>
              <a:ext uri="{FF2B5EF4-FFF2-40B4-BE49-F238E27FC236}">
                <a16:creationId xmlns:a16="http://schemas.microsoft.com/office/drawing/2014/main" id="{18C8DD7E-062B-0F68-1AB3-85070E183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658" y="1896956"/>
            <a:ext cx="5788976" cy="306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AD5231C3-D156-ACB8-74CB-78F4798B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0C21D61D-C24B-1494-DD80-A7F3F513F8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5241"/>
            <a:ext cx="5206807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i="0" u="none" dirty="0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Consumir una API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s-ES" sz="2200" dirty="0">
                <a:solidFill>
                  <a:srgbClr val="22627E"/>
                </a:solidFill>
              </a:rPr>
            </a:br>
            <a:br>
              <a:rPr lang="es-ES" sz="2200" dirty="0">
                <a:solidFill>
                  <a:srgbClr val="22627E"/>
                </a:solidFill>
              </a:rPr>
            </a:b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Petición</a:t>
            </a:r>
            <a:r>
              <a:rPr lang="en-US" sz="2000" dirty="0">
                <a:solidFill>
                  <a:srgbClr val="22627E"/>
                </a:solidFill>
              </a:rPr>
              <a:t> a un endpoint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Posible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uso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parámetros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Respuesta </a:t>
            </a:r>
            <a:r>
              <a:rPr lang="en-US" sz="2000" dirty="0" err="1">
                <a:solidFill>
                  <a:srgbClr val="22627E"/>
                </a:solidFill>
              </a:rPr>
              <a:t>completa</a:t>
            </a:r>
            <a:r>
              <a:rPr lang="en-US" sz="2000" dirty="0">
                <a:solidFill>
                  <a:srgbClr val="22627E"/>
                </a:solidFill>
              </a:rPr>
              <a:t>.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Esquema</a:t>
            </a:r>
            <a:r>
              <a:rPr lang="en-US" sz="2000" dirty="0">
                <a:solidFill>
                  <a:srgbClr val="22627E"/>
                </a:solidFill>
              </a:rPr>
              <a:t> CRUD-&gt;PGPD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E3306C74-5201-7A65-455A-E04B56B430A4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AJAX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39E63028-EF3D-0DE5-5A7A-053A1CD46E6E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FBA91829-88CA-AEAA-FF58-244CD27F11A5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3C78AC53-74AC-DF40-6E25-F1169A4BE51E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C1DBCB63-0919-C360-F923-ABE24E35B872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7B2EB48B-5780-B604-B3AC-441A9239D9CF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F3046119-1ECB-831A-3014-15D397E56243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44FE3E88-EFB8-182C-0A69-26DE7CCC82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7DEC0B2B-6A85-8AA3-5058-8A22FA8F3C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What is a REST API (RESTful API)? Understanding the basics | ToolsQA">
            <a:extLst>
              <a:ext uri="{FF2B5EF4-FFF2-40B4-BE49-F238E27FC236}">
                <a16:creationId xmlns:a16="http://schemas.microsoft.com/office/drawing/2014/main" id="{FB8AD0F3-FCE5-E57D-6B61-826F30FE5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588" y="2382327"/>
            <a:ext cx="6834584" cy="286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2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825B3D0A-C96F-CF60-3DBB-E9058E71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6D1B8FD3-30A6-E632-4226-8D1ECDC2C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5241"/>
            <a:ext cx="5206807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dirty="0">
                <a:solidFill>
                  <a:srgbClr val="22627E"/>
                </a:solidFill>
              </a:rPr>
              <a:t>JSON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s-ES" sz="2200" dirty="0">
                <a:solidFill>
                  <a:srgbClr val="22627E"/>
                </a:solidFill>
              </a:rPr>
            </a:br>
            <a:br>
              <a:rPr lang="es-ES" sz="2200" dirty="0">
                <a:solidFill>
                  <a:srgbClr val="22627E"/>
                </a:solidFill>
              </a:rPr>
            </a:b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Formato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texto</a:t>
            </a:r>
            <a:r>
              <a:rPr lang="en-US" sz="2000" dirty="0">
                <a:solidFill>
                  <a:srgbClr val="22627E"/>
                </a:solidFill>
              </a:rPr>
              <a:t> para </a:t>
            </a:r>
            <a:r>
              <a:rPr lang="en-US" sz="2000" dirty="0" err="1">
                <a:solidFill>
                  <a:srgbClr val="22627E"/>
                </a:solidFill>
              </a:rPr>
              <a:t>intercambio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datos</a:t>
            </a:r>
            <a:endParaRPr lang="en-US" sz="20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 err="1">
                <a:solidFill>
                  <a:srgbClr val="22627E"/>
                </a:solidFill>
              </a:rPr>
              <a:t>Integración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nativa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en</a:t>
            </a:r>
            <a:r>
              <a:rPr lang="en-US" sz="2000" dirty="0">
                <a:solidFill>
                  <a:srgbClr val="22627E"/>
                </a:solidFill>
              </a:rPr>
              <a:t> JS: </a:t>
            </a:r>
            <a:r>
              <a:rPr lang="en-US" sz="2000" dirty="0" err="1">
                <a:solidFill>
                  <a:srgbClr val="22627E"/>
                </a:solidFill>
              </a:rPr>
              <a:t>Objeto</a:t>
            </a:r>
            <a:r>
              <a:rPr lang="en-US" sz="2000" dirty="0" err="1">
                <a:solidFill>
                  <a:srgbClr val="22627E"/>
                </a:solidFill>
                <a:sym typeface="Wingdings" panose="05000000000000000000" pitchFamily="2" charset="2"/>
              </a:rPr>
              <a:t>JSON</a:t>
            </a:r>
            <a:endParaRPr lang="en-US" sz="20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JSON.stringify</a:t>
            </a:r>
            <a:r>
              <a:rPr lang="en-US" sz="1600" dirty="0">
                <a:solidFill>
                  <a:srgbClr val="22627E"/>
                </a:solidFill>
              </a:rPr>
              <a:t>(): </a:t>
            </a:r>
            <a:r>
              <a:rPr lang="en-US" sz="1600" dirty="0" err="1">
                <a:solidFill>
                  <a:srgbClr val="22627E"/>
                </a:solidFill>
              </a:rPr>
              <a:t>Objeto</a:t>
            </a:r>
            <a:r>
              <a:rPr lang="en-US" sz="1600" dirty="0">
                <a:solidFill>
                  <a:srgbClr val="22627E"/>
                </a:solidFill>
              </a:rPr>
              <a:t> -&gt; JSON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JSON.parse</a:t>
            </a:r>
            <a:r>
              <a:rPr lang="en-US" sz="1600" dirty="0">
                <a:solidFill>
                  <a:srgbClr val="22627E"/>
                </a:solidFill>
              </a:rPr>
              <a:t>(): JSON -&gt; </a:t>
            </a:r>
            <a:r>
              <a:rPr lang="en-US" sz="1600" dirty="0" err="1">
                <a:solidFill>
                  <a:srgbClr val="22627E"/>
                </a:solidFill>
              </a:rPr>
              <a:t>Objeto</a:t>
            </a:r>
            <a:endParaRPr lang="en-US" sz="1600" dirty="0">
              <a:solidFill>
                <a:srgbClr val="22627E"/>
              </a:solidFill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endParaRPr dirty="0"/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F55EFD11-7B25-52D7-524F-DE4CE70A7E84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AJAX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B11A021B-7435-7D7D-89B7-EA3E79CC794B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5C2B48DB-289C-992A-C3D7-ACE0CB5591AF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EF8C4B8B-C421-22B3-0A8B-0C311A53B24F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7A453530-A88C-6958-14E2-711E8F5DF00D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9A2D0A76-7788-AA89-048E-98C1E881D654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64FBB4AC-518F-D196-860A-D009612ADB49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591C16B4-8B45-1D16-0F4C-86D578A46E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58A7EB62-D9AA-EC49-5C13-A1AC1BD2AF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「JSON」とは？非エンジニアでもよくわかる解説">
            <a:extLst>
              <a:ext uri="{FF2B5EF4-FFF2-40B4-BE49-F238E27FC236}">
                <a16:creationId xmlns:a16="http://schemas.microsoft.com/office/drawing/2014/main" id="{A08B7877-6E87-2F80-D200-4A050C73F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592" y="2202758"/>
            <a:ext cx="4425340" cy="366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72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4E008EF6-773D-EE5C-CCDB-356F90B4A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>
            <a:extLst>
              <a:ext uri="{FF2B5EF4-FFF2-40B4-BE49-F238E27FC236}">
                <a16:creationId xmlns:a16="http://schemas.microsoft.com/office/drawing/2014/main" id="{6745E9B7-C1B5-8BEA-3A3B-1F346EC58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1500" y="1415241"/>
            <a:ext cx="5206807" cy="52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2700" b="1" dirty="0">
                <a:solidFill>
                  <a:srgbClr val="22627E"/>
                </a:solidFill>
              </a:rPr>
              <a:t>AJAX y </a:t>
            </a:r>
            <a:r>
              <a:rPr lang="es-ES" sz="2700" b="1" dirty="0" err="1">
                <a:solidFill>
                  <a:srgbClr val="22627E"/>
                </a:solidFill>
              </a:rPr>
              <a:t>Fetch</a:t>
            </a:r>
            <a:endParaRPr sz="2700" dirty="0"/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s-ES" sz="2200" dirty="0">
                <a:solidFill>
                  <a:srgbClr val="22627E"/>
                </a:solidFill>
              </a:rPr>
            </a:br>
            <a:br>
              <a:rPr lang="es-ES" sz="2200" dirty="0">
                <a:solidFill>
                  <a:srgbClr val="22627E"/>
                </a:solidFill>
              </a:rPr>
            </a:br>
            <a:endParaRPr sz="2200" dirty="0">
              <a:solidFill>
                <a:srgbClr val="22627E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JavaScript </a:t>
            </a:r>
            <a:r>
              <a:rPr lang="en-US" sz="2000" dirty="0" err="1">
                <a:solidFill>
                  <a:srgbClr val="22627E"/>
                </a:solidFill>
              </a:rPr>
              <a:t>Asíncrono</a:t>
            </a:r>
            <a:r>
              <a:rPr lang="en-US" sz="2000" dirty="0">
                <a:solidFill>
                  <a:srgbClr val="22627E"/>
                </a:solidFill>
              </a:rPr>
              <a:t> y XML</a:t>
            </a: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627E"/>
              </a:buClr>
              <a:buSzPts val="2000"/>
              <a:buChar char="•"/>
            </a:pPr>
            <a:r>
              <a:rPr lang="en-US" sz="2000" dirty="0">
                <a:solidFill>
                  <a:srgbClr val="22627E"/>
                </a:solidFill>
              </a:rPr>
              <a:t>Fetch: </a:t>
            </a:r>
            <a:r>
              <a:rPr lang="en-US" sz="2000" dirty="0" err="1">
                <a:solidFill>
                  <a:srgbClr val="22627E"/>
                </a:solidFill>
              </a:rPr>
              <a:t>método</a:t>
            </a:r>
            <a:r>
              <a:rPr lang="en-US" sz="2000" dirty="0">
                <a:solidFill>
                  <a:srgbClr val="22627E"/>
                </a:solidFill>
              </a:rPr>
              <a:t> de </a:t>
            </a:r>
            <a:r>
              <a:rPr lang="en-US" sz="2000" dirty="0" err="1">
                <a:solidFill>
                  <a:srgbClr val="22627E"/>
                </a:solidFill>
              </a:rPr>
              <a:t>peticiones</a:t>
            </a:r>
            <a:r>
              <a:rPr lang="en-US" sz="2000" dirty="0">
                <a:solidFill>
                  <a:srgbClr val="22627E"/>
                </a:solidFill>
              </a:rPr>
              <a:t> </a:t>
            </a:r>
            <a:r>
              <a:rPr lang="en-US" sz="2000" dirty="0" err="1">
                <a:solidFill>
                  <a:srgbClr val="22627E"/>
                </a:solidFill>
              </a:rPr>
              <a:t>en</a:t>
            </a:r>
            <a:r>
              <a:rPr lang="en-US" sz="2000" dirty="0">
                <a:solidFill>
                  <a:srgbClr val="22627E"/>
                </a:solidFill>
              </a:rPr>
              <a:t> JS</a:t>
            </a: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Genera </a:t>
            </a:r>
            <a:r>
              <a:rPr lang="en-US" sz="1600" dirty="0" err="1">
                <a:solidFill>
                  <a:srgbClr val="22627E"/>
                </a:solidFill>
              </a:rPr>
              <a:t>promesas</a:t>
            </a:r>
            <a:r>
              <a:rPr lang="en-US" sz="1600" dirty="0">
                <a:solidFill>
                  <a:srgbClr val="22627E"/>
                </a:solidFill>
              </a:rPr>
              <a:t> que </a:t>
            </a:r>
            <a:r>
              <a:rPr lang="en-US" sz="1600" dirty="0" err="1">
                <a:solidFill>
                  <a:srgbClr val="22627E"/>
                </a:solidFill>
              </a:rPr>
              <a:t>resuelven</a:t>
            </a:r>
            <a:r>
              <a:rPr lang="en-US" sz="1600" dirty="0">
                <a:solidFill>
                  <a:srgbClr val="22627E"/>
                </a:solidFill>
              </a:rPr>
              <a:t> las </a:t>
            </a:r>
            <a:r>
              <a:rPr lang="en-US" sz="1600" dirty="0" err="1">
                <a:solidFill>
                  <a:srgbClr val="22627E"/>
                </a:solidFill>
              </a:rPr>
              <a:t>peticiones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>
                <a:solidFill>
                  <a:srgbClr val="22627E"/>
                </a:solidFill>
              </a:rPr>
              <a:t>GET </a:t>
            </a:r>
            <a:r>
              <a:rPr lang="en-US" sz="1600" dirty="0" err="1">
                <a:solidFill>
                  <a:srgbClr val="22627E"/>
                </a:solidFill>
              </a:rPr>
              <a:t>por</a:t>
            </a:r>
            <a:r>
              <a:rPr lang="en-US" sz="1600" dirty="0">
                <a:solidFill>
                  <a:srgbClr val="22627E"/>
                </a:solidFill>
              </a:rPr>
              <a:t> </a:t>
            </a:r>
            <a:r>
              <a:rPr lang="en-US" sz="1600" dirty="0" err="1">
                <a:solidFill>
                  <a:srgbClr val="22627E"/>
                </a:solidFill>
              </a:rPr>
              <a:t>defecto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r>
              <a:rPr lang="en-US" sz="1600" dirty="0" err="1">
                <a:solidFill>
                  <a:srgbClr val="22627E"/>
                </a:solidFill>
              </a:rPr>
              <a:t>Objeto</a:t>
            </a:r>
            <a:r>
              <a:rPr lang="en-US" sz="1600" dirty="0">
                <a:solidFill>
                  <a:srgbClr val="22627E"/>
                </a:solidFill>
              </a:rPr>
              <a:t> de </a:t>
            </a:r>
            <a:r>
              <a:rPr lang="en-US" sz="1600" dirty="0" err="1">
                <a:solidFill>
                  <a:srgbClr val="22627E"/>
                </a:solidFill>
              </a:rPr>
              <a:t>configuración</a:t>
            </a: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endParaRPr lang="en-US" sz="1600" dirty="0">
              <a:solidFill>
                <a:srgbClr val="22627E"/>
              </a:solidFill>
            </a:endParaRPr>
          </a:p>
          <a:p>
            <a:pPr lvl="1" indent="-355600">
              <a:spcBef>
                <a:spcPts val="1000"/>
              </a:spcBef>
              <a:buClr>
                <a:srgbClr val="22627E"/>
              </a:buClr>
              <a:buSzPts val="2000"/>
            </a:pPr>
            <a:endParaRPr lang="en-US" sz="1600" dirty="0">
              <a:solidFill>
                <a:srgbClr val="22627E"/>
              </a:solidFill>
            </a:endParaRP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1FB55221-C6A7-FF74-E7EB-500792F880BB}"/>
              </a:ext>
            </a:extLst>
          </p:cNvPr>
          <p:cNvSpPr txBox="1"/>
          <p:nvPr/>
        </p:nvSpPr>
        <p:spPr>
          <a:xfrm>
            <a:off x="0" y="307975"/>
            <a:ext cx="12192000" cy="6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415B"/>
              </a:buClr>
              <a:buSzPts val="2400"/>
              <a:buFont typeface="Roboto"/>
              <a:buNone/>
            </a:pPr>
            <a:r>
              <a:rPr lang="en-US" sz="2700" b="1" i="0" u="none" strike="noStrike" cap="none" dirty="0">
                <a:solidFill>
                  <a:srgbClr val="01415B"/>
                </a:solidFill>
                <a:latin typeface="Roboto"/>
                <a:ea typeface="Roboto"/>
                <a:cs typeface="Roboto"/>
                <a:sym typeface="Roboto"/>
              </a:rPr>
              <a:t>AJAX</a:t>
            </a:r>
            <a:endParaRPr sz="2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6">
            <a:extLst>
              <a:ext uri="{FF2B5EF4-FFF2-40B4-BE49-F238E27FC236}">
                <a16:creationId xmlns:a16="http://schemas.microsoft.com/office/drawing/2014/main" id="{76E5FEC1-3AB4-E86F-3C10-E4E95B8DDB8A}"/>
              </a:ext>
            </a:extLst>
          </p:cNvPr>
          <p:cNvGrpSpPr/>
          <p:nvPr/>
        </p:nvGrpSpPr>
        <p:grpSpPr>
          <a:xfrm>
            <a:off x="9393242" y="6129641"/>
            <a:ext cx="2471796" cy="338159"/>
            <a:chOff x="270050" y="6325600"/>
            <a:chExt cx="3464325" cy="453600"/>
          </a:xfrm>
        </p:grpSpPr>
        <p:sp>
          <p:nvSpPr>
            <p:cNvPr id="126" name="Google Shape;126;p16">
              <a:extLst>
                <a:ext uri="{FF2B5EF4-FFF2-40B4-BE49-F238E27FC236}">
                  <a16:creationId xmlns:a16="http://schemas.microsoft.com/office/drawing/2014/main" id="{07982E00-DA77-42A9-8B8E-38A259051C33}"/>
                </a:ext>
              </a:extLst>
            </p:cNvPr>
            <p:cNvSpPr/>
            <p:nvPr/>
          </p:nvSpPr>
          <p:spPr>
            <a:xfrm>
              <a:off x="270050" y="6325600"/>
              <a:ext cx="3250725" cy="453600"/>
            </a:xfrm>
            <a:custGeom>
              <a:avLst/>
              <a:gdLst/>
              <a:ahLst/>
              <a:cxnLst/>
              <a:rect l="l" t="t" r="r" b="b"/>
              <a:pathLst>
                <a:path w="3250725" h="453600" extrusionOk="0">
                  <a:moveTo>
                    <a:pt x="226800" y="0"/>
                  </a:moveTo>
                  <a:lnTo>
                    <a:pt x="3023925" y="0"/>
                  </a:lnTo>
                  <a:cubicBezTo>
                    <a:pt x="3149183" y="0"/>
                    <a:pt x="3250725" y="101542"/>
                    <a:pt x="3250725" y="226800"/>
                  </a:cubicBezTo>
                  <a:lnTo>
                    <a:pt x="3250725" y="226800"/>
                  </a:lnTo>
                  <a:cubicBezTo>
                    <a:pt x="3250725" y="352058"/>
                    <a:pt x="3149183" y="453600"/>
                    <a:pt x="3023925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3298B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6">
              <a:extLst>
                <a:ext uri="{FF2B5EF4-FFF2-40B4-BE49-F238E27FC236}">
                  <a16:creationId xmlns:a16="http://schemas.microsoft.com/office/drawing/2014/main" id="{3EC9CDFB-8B31-7265-691C-CA1D4817F150}"/>
                </a:ext>
              </a:extLst>
            </p:cNvPr>
            <p:cNvSpPr/>
            <p:nvPr/>
          </p:nvSpPr>
          <p:spPr>
            <a:xfrm>
              <a:off x="339024" y="6366061"/>
              <a:ext cx="3132801" cy="366288"/>
            </a:xfrm>
            <a:custGeom>
              <a:avLst/>
              <a:gdLst/>
              <a:ahLst/>
              <a:cxnLst/>
              <a:rect l="l" t="t" r="r" b="b"/>
              <a:pathLst>
                <a:path w="3132801" h="366288" extrusionOk="0">
                  <a:moveTo>
                    <a:pt x="183144" y="0"/>
                  </a:moveTo>
                  <a:lnTo>
                    <a:pt x="2949657" y="0"/>
                  </a:lnTo>
                  <a:cubicBezTo>
                    <a:pt x="3050805" y="0"/>
                    <a:pt x="3132801" y="81996"/>
                    <a:pt x="3132801" y="183144"/>
                  </a:cubicBezTo>
                  <a:lnTo>
                    <a:pt x="3132801" y="183144"/>
                  </a:lnTo>
                  <a:cubicBezTo>
                    <a:pt x="3132801" y="284292"/>
                    <a:pt x="3050805" y="366288"/>
                    <a:pt x="2949657" y="366288"/>
                  </a:cubicBezTo>
                  <a:lnTo>
                    <a:pt x="183144" y="366288"/>
                  </a:lnTo>
                  <a:cubicBezTo>
                    <a:pt x="81996" y="366288"/>
                    <a:pt x="0" y="284292"/>
                    <a:pt x="0" y="183144"/>
                  </a:cubicBezTo>
                  <a:lnTo>
                    <a:pt x="0" y="183144"/>
                  </a:lnTo>
                  <a:cubicBezTo>
                    <a:pt x="0" y="81996"/>
                    <a:pt x="81996" y="0"/>
                    <a:pt x="18314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6">
              <a:extLst>
                <a:ext uri="{FF2B5EF4-FFF2-40B4-BE49-F238E27FC236}">
                  <a16:creationId xmlns:a16="http://schemas.microsoft.com/office/drawing/2014/main" id="{946BEE3E-CA14-D9FD-1BD4-92AB2E46428F}"/>
                </a:ext>
              </a:extLst>
            </p:cNvPr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6">
              <a:extLst>
                <a:ext uri="{FF2B5EF4-FFF2-40B4-BE49-F238E27FC236}">
                  <a16:creationId xmlns:a16="http://schemas.microsoft.com/office/drawing/2014/main" id="{11C0BE92-3EDE-9986-9BE3-AC275505D112}"/>
                </a:ext>
              </a:extLst>
            </p:cNvPr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 w="9525" cap="flat" cmpd="sng">
              <a:solidFill>
                <a:srgbClr val="3298B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BD6A004E-4485-4F70-ECB7-3B52ED659128}"/>
              </a:ext>
            </a:extLst>
          </p:cNvPr>
          <p:cNvSpPr txBox="1"/>
          <p:nvPr/>
        </p:nvSpPr>
        <p:spPr>
          <a:xfrm>
            <a:off x="9085262" y="6178550"/>
            <a:ext cx="293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">
            <a:extLst>
              <a:ext uri="{FF2B5EF4-FFF2-40B4-BE49-F238E27FC236}">
                <a16:creationId xmlns:a16="http://schemas.microsoft.com/office/drawing/2014/main" id="{1A185115-82E0-5570-BA5D-6A36D7A624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82400" y="6169025"/>
            <a:ext cx="255587" cy="25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>
            <a:extLst>
              <a:ext uri="{FF2B5EF4-FFF2-40B4-BE49-F238E27FC236}">
                <a16:creationId xmlns:a16="http://schemas.microsoft.com/office/drawing/2014/main" id="{12F4833F-328A-3FF9-6520-1BB798ED94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825" y="417501"/>
            <a:ext cx="1748347" cy="47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JavaScript Fetch API Tutorial with JS Fetch Post and Header Examples">
            <a:extLst>
              <a:ext uri="{FF2B5EF4-FFF2-40B4-BE49-F238E27FC236}">
                <a16:creationId xmlns:a16="http://schemas.microsoft.com/office/drawing/2014/main" id="{97B48345-D09D-CFDD-D75B-5AC7A1380E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" r="8517"/>
          <a:stretch/>
        </p:blipFill>
        <p:spPr bwMode="auto">
          <a:xfrm>
            <a:off x="6691262" y="2680129"/>
            <a:ext cx="4788000" cy="271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15B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33"/>
          <p:cNvGrpSpPr/>
          <p:nvPr/>
        </p:nvGrpSpPr>
        <p:grpSpPr>
          <a:xfrm>
            <a:off x="4849767" y="6163521"/>
            <a:ext cx="2355741" cy="307994"/>
            <a:chOff x="270050" y="6325600"/>
            <a:chExt cx="3464325" cy="453600"/>
          </a:xfrm>
        </p:grpSpPr>
        <p:sp>
          <p:nvSpPr>
            <p:cNvPr id="352" name="Google Shape;352;p33"/>
            <p:cNvSpPr/>
            <p:nvPr/>
          </p:nvSpPr>
          <p:spPr>
            <a:xfrm>
              <a:off x="270050" y="6325600"/>
              <a:ext cx="3249556" cy="453600"/>
            </a:xfrm>
            <a:custGeom>
              <a:avLst/>
              <a:gdLst/>
              <a:ahLst/>
              <a:cxnLst/>
              <a:rect l="l" t="t" r="r" b="b"/>
              <a:pathLst>
                <a:path w="3249556" h="453600" extrusionOk="0">
                  <a:moveTo>
                    <a:pt x="226800" y="0"/>
                  </a:moveTo>
                  <a:lnTo>
                    <a:pt x="3022756" y="0"/>
                  </a:lnTo>
                  <a:cubicBezTo>
                    <a:pt x="3148014" y="0"/>
                    <a:pt x="3249556" y="101542"/>
                    <a:pt x="3249556" y="226800"/>
                  </a:cubicBezTo>
                  <a:lnTo>
                    <a:pt x="3249556" y="226800"/>
                  </a:lnTo>
                  <a:cubicBezTo>
                    <a:pt x="3249556" y="352058"/>
                    <a:pt x="3148014" y="453600"/>
                    <a:pt x="3022756" y="453600"/>
                  </a:cubicBezTo>
                  <a:lnTo>
                    <a:pt x="226800" y="453600"/>
                  </a:lnTo>
                  <a:cubicBezTo>
                    <a:pt x="101542" y="453600"/>
                    <a:pt x="0" y="352058"/>
                    <a:pt x="0" y="226800"/>
                  </a:cubicBezTo>
                  <a:lnTo>
                    <a:pt x="0" y="226800"/>
                  </a:lnTo>
                  <a:cubicBezTo>
                    <a:pt x="0" y="101542"/>
                    <a:pt x="101542" y="0"/>
                    <a:pt x="22680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340084" y="6367687"/>
              <a:ext cx="3132833" cy="364751"/>
            </a:xfrm>
            <a:custGeom>
              <a:avLst/>
              <a:gdLst/>
              <a:ahLst/>
              <a:cxnLst/>
              <a:rect l="l" t="t" r="r" b="b"/>
              <a:pathLst>
                <a:path w="3132833" h="364751" extrusionOk="0">
                  <a:moveTo>
                    <a:pt x="182376" y="0"/>
                  </a:moveTo>
                  <a:lnTo>
                    <a:pt x="2950458" y="0"/>
                  </a:lnTo>
                  <a:cubicBezTo>
                    <a:pt x="3051181" y="0"/>
                    <a:pt x="3132834" y="81653"/>
                    <a:pt x="3132834" y="182376"/>
                  </a:cubicBezTo>
                  <a:lnTo>
                    <a:pt x="3132833" y="182376"/>
                  </a:lnTo>
                  <a:cubicBezTo>
                    <a:pt x="3132833" y="283099"/>
                    <a:pt x="3051180" y="364752"/>
                    <a:pt x="2950457" y="364752"/>
                  </a:cubicBezTo>
                  <a:lnTo>
                    <a:pt x="182376" y="364751"/>
                  </a:lnTo>
                  <a:cubicBezTo>
                    <a:pt x="81653" y="364751"/>
                    <a:pt x="0" y="283098"/>
                    <a:pt x="0" y="182375"/>
                  </a:cubicBezTo>
                  <a:lnTo>
                    <a:pt x="0" y="182376"/>
                  </a:lnTo>
                  <a:cubicBezTo>
                    <a:pt x="0" y="81653"/>
                    <a:pt x="81653" y="0"/>
                    <a:pt x="182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3293975" y="6334125"/>
              <a:ext cx="440400" cy="44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3"/>
            <p:cNvSpPr/>
            <p:nvPr/>
          </p:nvSpPr>
          <p:spPr>
            <a:xfrm>
              <a:off x="3331025" y="6371175"/>
              <a:ext cx="366300" cy="366300"/>
            </a:xfrm>
            <a:prstGeom prst="ellipse">
              <a:avLst/>
            </a:prstGeom>
            <a:solidFill>
              <a:srgbClr val="3298B3"/>
            </a:solidFill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33"/>
          <p:cNvSpPr txBox="1"/>
          <p:nvPr/>
        </p:nvSpPr>
        <p:spPr>
          <a:xfrm>
            <a:off x="4978462" y="6205287"/>
            <a:ext cx="19938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175" tIns="62175" rIns="62175" bIns="621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627E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2627E"/>
                </a:solidFill>
                <a:latin typeface="Roboto"/>
                <a:ea typeface="Roboto"/>
                <a:cs typeface="Roboto"/>
                <a:sym typeface="Roboto"/>
              </a:rPr>
              <a:t>www.ebiseducation.com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33"/>
          <p:cNvGrpSpPr/>
          <p:nvPr/>
        </p:nvGrpSpPr>
        <p:grpSpPr>
          <a:xfrm>
            <a:off x="1271525" y="344550"/>
            <a:ext cx="9648724" cy="5666576"/>
            <a:chOff x="3401941" y="1476236"/>
            <a:chExt cx="5331965" cy="3329559"/>
          </a:xfrm>
        </p:grpSpPr>
        <p:pic>
          <p:nvPicPr>
            <p:cNvPr id="358" name="Google Shape;358;p33"/>
            <p:cNvPicPr preferRelativeResize="0"/>
            <p:nvPr/>
          </p:nvPicPr>
          <p:blipFill rotWithShape="1">
            <a:blip r:embed="rId3">
              <a:alphaModFix/>
            </a:blip>
            <a:srcRect b="-2070"/>
            <a:stretch/>
          </p:blipFill>
          <p:spPr>
            <a:xfrm>
              <a:off x="3401941" y="1476236"/>
              <a:ext cx="5331965" cy="3329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33"/>
            <p:cNvSpPr txBox="1"/>
            <p:nvPr/>
          </p:nvSpPr>
          <p:spPr>
            <a:xfrm>
              <a:off x="4011633" y="2253263"/>
              <a:ext cx="769354" cy="2415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175" tIns="62175" rIns="62175" bIns="621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FFE"/>
                </a:buClr>
                <a:buSzPts val="1300"/>
                <a:buFont typeface="Roboto"/>
                <a:buNone/>
              </a:pPr>
              <a:r>
                <a:rPr lang="en-US" sz="1300" b="1" i="0" u="none" strike="noStrike" cap="none">
                  <a:solidFill>
                    <a:srgbClr val="FAFFFE"/>
                  </a:solidFill>
                  <a:latin typeface="Roboto"/>
                  <a:ea typeface="Roboto"/>
                  <a:cs typeface="Roboto"/>
                  <a:sym typeface="Roboto"/>
                </a:rPr>
                <a:t>USA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0" name="Google Shape;360;p33"/>
            <p:cNvCxnSpPr/>
            <p:nvPr/>
          </p:nvCxnSpPr>
          <p:spPr>
            <a:xfrm rot="10800000">
              <a:off x="6366435" y="2308445"/>
              <a:ext cx="3957" cy="0"/>
            </a:xfrm>
            <a:prstGeom prst="straightConnector1">
              <a:avLst/>
            </a:prstGeom>
            <a:noFill/>
            <a:ln w="9525" cap="flat" cmpd="sng">
              <a:solidFill>
                <a:srgbClr val="6ACBB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361" name="Google Shape;36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2262" y="6237862"/>
            <a:ext cx="1746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3"/>
          <p:cNvSpPr/>
          <p:nvPr/>
        </p:nvSpPr>
        <p:spPr>
          <a:xfrm>
            <a:off x="6425707" y="2234708"/>
            <a:ext cx="132600" cy="12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3549490" y="371961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737614" y="256484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9632935" y="467684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3767137" y="5725482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4570721" y="4224037"/>
            <a:ext cx="217500" cy="20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846437" y="2523933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3549490" y="3777787"/>
            <a:ext cx="126600" cy="14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3911416" y="3748699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4504411" y="4162975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656811" y="4315375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3960441" y="5640192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6122576" y="2503780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6290459" y="2503780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10197650" y="4719172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9566625" y="4780234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3209426" y="2951834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3521260" y="3128249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5697983" y="2564842"/>
            <a:ext cx="282600" cy="266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5631673" y="2624381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726212" y="2668234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5684751" y="2761787"/>
            <a:ext cx="132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833737" y="2761787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3526412" y="4285099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3933605" y="4468455"/>
            <a:ext cx="126600" cy="122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3209426" y="3597488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2647451" y="3200399"/>
            <a:ext cx="132600" cy="122100"/>
          </a:xfrm>
          <a:prstGeom prst="ellipse">
            <a:avLst/>
          </a:prstGeom>
          <a:solidFill>
            <a:srgbClr val="B9CC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2933965" y="3327733"/>
            <a:ext cx="137100" cy="14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0" name="Google Shape;390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5850" y="5350400"/>
            <a:ext cx="2424023" cy="658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3">
      <a:dk1>
        <a:srgbClr val="01415B"/>
      </a:dk1>
      <a:lt1>
        <a:srgbClr val="FFFFFF"/>
      </a:lt1>
      <a:dk2>
        <a:srgbClr val="3298B3"/>
      </a:dk2>
      <a:lt2>
        <a:srgbClr val="D3DFE1"/>
      </a:lt2>
      <a:accent1>
        <a:srgbClr val="01415B"/>
      </a:accent1>
      <a:accent2>
        <a:srgbClr val="3298B3"/>
      </a:accent2>
      <a:accent3>
        <a:srgbClr val="6ACBB8"/>
      </a:accent3>
      <a:accent4>
        <a:srgbClr val="D3DFE1"/>
      </a:accent4>
      <a:accent5>
        <a:srgbClr val="FAFFFF"/>
      </a:accent5>
      <a:accent6>
        <a:srgbClr val="FAFFFF"/>
      </a:accent6>
      <a:hlink>
        <a:srgbClr val="6ACBB8"/>
      </a:hlink>
      <a:folHlink>
        <a:srgbClr val="D3DF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Panorámica</PresentationFormat>
  <Paragraphs>47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Wingdings</vt:lpstr>
      <vt:lpstr>Arial</vt:lpstr>
      <vt:lpstr>Calibri</vt:lpstr>
      <vt:lpstr>Roboto</vt:lpstr>
      <vt:lpstr>Tema de Office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Rafa Puerta</dc:creator>
  <cp:lastModifiedBy>Rafa Puerta</cp:lastModifiedBy>
  <cp:revision>1</cp:revision>
  <dcterms:modified xsi:type="dcterms:W3CDTF">2025-01-24T14:56:10Z</dcterms:modified>
</cp:coreProperties>
</file>