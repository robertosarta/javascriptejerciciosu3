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9" r:id="rId4"/>
    <p:sldId id="278" r:id="rId5"/>
    <p:sldId id="277" r:id="rId6"/>
    <p:sldId id="279" r:id="rId7"/>
    <p:sldId id="280" r:id="rId8"/>
    <p:sldId id="276" r:id="rId9"/>
  </p:sldIdLst>
  <p:sldSz cx="12192000" cy="6858000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1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4d15efd57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94d15efd57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9F4A02F3-8AD2-73C1-A551-D4BC6024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14BC2434-C44D-0A7A-5471-4886510EF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88DE58BF-85D8-ACD9-C06C-21DCAD384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9619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DEEC868-EDB3-6FAD-B04E-94D8CDAD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5D9C65EA-5CE2-9A48-C813-57179CFA6F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F6578CD5-F62E-B6EE-7F78-A4A066E5B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378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35BC64C2-2124-24F6-2F3B-40F65ABD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F7199BE4-99EB-24B5-389C-D68E67B4B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E5CAEEBD-68AB-B311-BFDC-B98F06E0C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8913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FBECA17C-DED1-D0D6-BB25-981ED586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152BF632-EF69-07EA-45A9-5B4EC7ECA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6C6E546A-C4AC-1BB0-A5B3-DA5286A06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6547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1" name="Google Shape;51;p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t="18810"/>
          <a:stretch/>
        </p:blipFill>
        <p:spPr>
          <a:xfrm>
            <a:off x="0" y="0"/>
            <a:ext cx="12192000" cy="55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0" y="4221162"/>
            <a:ext cx="12192000" cy="26814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02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226" y="5567800"/>
            <a:ext cx="3280850" cy="8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-10925" y="4176700"/>
            <a:ext cx="12213300" cy="89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627F"/>
              </a:buClr>
              <a:buSzPts val="3600"/>
              <a:buFont typeface="Roboto"/>
              <a:buNone/>
            </a:pPr>
            <a:r>
              <a:rPr lang="en-US" sz="3600" b="1" i="0" u="none" strike="noStrike" cap="none" dirty="0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Tema </a:t>
            </a:r>
            <a:r>
              <a:rPr lang="en-US" sz="3600" b="1" dirty="0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4.7: </a:t>
            </a:r>
            <a:r>
              <a:rPr lang="en-US" sz="3600" b="1" dirty="0" err="1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38200" y="282575"/>
            <a:ext cx="7259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rPr lang="en-US" sz="4400" b="1" i="0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Contenidos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838200" y="1852600"/>
            <a:ext cx="73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s-ES" sz="2400" dirty="0"/>
              <a:t>¿Qué es un evento?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Objeto</a:t>
            </a:r>
            <a:r>
              <a:rPr lang="en-US" sz="2400" dirty="0"/>
              <a:t> Event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Listeners y Handlers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Propagación</a:t>
            </a:r>
            <a:r>
              <a:rPr lang="en-US" sz="2400" dirty="0"/>
              <a:t> de </a:t>
            </a:r>
            <a:r>
              <a:rPr lang="en-US" sz="2400" dirty="0" err="1"/>
              <a:t>eventos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Buenas</a:t>
            </a:r>
            <a:r>
              <a:rPr lang="en-US" sz="2400" dirty="0"/>
              <a:t> </a:t>
            </a:r>
            <a:r>
              <a:rPr lang="en-US" sz="2400" dirty="0" err="1"/>
              <a:t>prácticas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l="14527"/>
          <a:stretch/>
        </p:blipFill>
        <p:spPr>
          <a:xfrm>
            <a:off x="8275312" y="0"/>
            <a:ext cx="39155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4"/>
          <p:cNvGrpSpPr/>
          <p:nvPr/>
        </p:nvGrpSpPr>
        <p:grpSpPr>
          <a:xfrm>
            <a:off x="8501066" y="6094181"/>
            <a:ext cx="3463979" cy="454008"/>
            <a:chOff x="270050" y="6325600"/>
            <a:chExt cx="3464325" cy="453600"/>
          </a:xfrm>
        </p:grpSpPr>
        <p:sp>
          <p:nvSpPr>
            <p:cNvPr id="101" name="Google Shape;101;p14"/>
            <p:cNvSpPr/>
            <p:nvPr/>
          </p:nvSpPr>
          <p:spPr>
            <a:xfrm>
              <a:off x="270050" y="6325600"/>
              <a:ext cx="3249987" cy="453600"/>
            </a:xfrm>
            <a:custGeom>
              <a:avLst/>
              <a:gdLst/>
              <a:ahLst/>
              <a:cxnLst/>
              <a:rect l="l" t="t" r="r" b="b"/>
              <a:pathLst>
                <a:path w="3249987" h="453600" extrusionOk="0">
                  <a:moveTo>
                    <a:pt x="226800" y="0"/>
                  </a:moveTo>
                  <a:lnTo>
                    <a:pt x="3023187" y="0"/>
                  </a:lnTo>
                  <a:cubicBezTo>
                    <a:pt x="3148445" y="0"/>
                    <a:pt x="3249987" y="101542"/>
                    <a:pt x="3249987" y="226800"/>
                  </a:cubicBezTo>
                  <a:lnTo>
                    <a:pt x="3249987" y="226800"/>
                  </a:lnTo>
                  <a:cubicBezTo>
                    <a:pt x="3249987" y="352058"/>
                    <a:pt x="3148445" y="453600"/>
                    <a:pt x="3023187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38320" y="6366836"/>
              <a:ext cx="3134087" cy="366369"/>
            </a:xfrm>
            <a:custGeom>
              <a:avLst/>
              <a:gdLst/>
              <a:ahLst/>
              <a:cxnLst/>
              <a:rect l="l" t="t" r="r" b="b"/>
              <a:pathLst>
                <a:path w="3134087" h="366369" extrusionOk="0">
                  <a:moveTo>
                    <a:pt x="183185" y="0"/>
                  </a:moveTo>
                  <a:lnTo>
                    <a:pt x="2950903" y="0"/>
                  </a:lnTo>
                  <a:cubicBezTo>
                    <a:pt x="3052073" y="0"/>
                    <a:pt x="3134088" y="82015"/>
                    <a:pt x="3134088" y="183185"/>
                  </a:cubicBezTo>
                  <a:lnTo>
                    <a:pt x="3134087" y="183185"/>
                  </a:lnTo>
                  <a:cubicBezTo>
                    <a:pt x="3134087" y="284355"/>
                    <a:pt x="3052072" y="366370"/>
                    <a:pt x="2950902" y="366370"/>
                  </a:cubicBezTo>
                  <a:lnTo>
                    <a:pt x="183185" y="366369"/>
                  </a:lnTo>
                  <a:cubicBezTo>
                    <a:pt x="82015" y="366369"/>
                    <a:pt x="0" y="284354"/>
                    <a:pt x="0" y="183184"/>
                  </a:cubicBezTo>
                  <a:lnTo>
                    <a:pt x="0" y="183185"/>
                  </a:lnTo>
                  <a:cubicBezTo>
                    <a:pt x="0" y="82015"/>
                    <a:pt x="82015" y="0"/>
                    <a:pt x="183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4"/>
          <p:cNvSpPr txBox="1"/>
          <p:nvPr/>
        </p:nvSpPr>
        <p:spPr>
          <a:xfrm>
            <a:off x="8658225" y="6146800"/>
            <a:ext cx="29322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2087" y="6203950"/>
            <a:ext cx="255587" cy="25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A1C0721-F059-DF35-D9F1-947C28C50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905" y="1708544"/>
            <a:ext cx="8638095" cy="385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71500" y="1414448"/>
            <a:ext cx="10799700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¿Qué es un evento?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Acciones</a:t>
            </a:r>
            <a:r>
              <a:rPr lang="en-US" sz="2000" dirty="0">
                <a:solidFill>
                  <a:srgbClr val="22627E"/>
                </a:solidFill>
              </a:rPr>
              <a:t> que </a:t>
            </a:r>
            <a:r>
              <a:rPr lang="en-US" sz="2000" dirty="0" err="1">
                <a:solidFill>
                  <a:srgbClr val="22627E"/>
                </a:solidFill>
              </a:rPr>
              <a:t>ocurren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en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el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sistema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br>
              <a:rPr lang="en-US" sz="2000" dirty="0">
                <a:solidFill>
                  <a:srgbClr val="22627E"/>
                </a:solidFill>
              </a:rPr>
            </a:br>
            <a:r>
              <a:rPr lang="en-US" sz="2000" dirty="0">
                <a:solidFill>
                  <a:srgbClr val="22627E"/>
                </a:solidFill>
              </a:rPr>
              <a:t>y se </a:t>
            </a:r>
            <a:r>
              <a:rPr lang="en-US" sz="2000" dirty="0" err="1">
                <a:solidFill>
                  <a:srgbClr val="22627E"/>
                </a:solidFill>
              </a:rPr>
              <a:t>anuncian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Tipos</a:t>
            </a:r>
            <a:r>
              <a:rPr lang="en-US" sz="2000" dirty="0">
                <a:solidFill>
                  <a:srgbClr val="22627E"/>
                </a:solidFill>
              </a:rPr>
              <a:t>: 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Clicks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Pulsaciones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Hover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Redimensiones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Cargas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etc</a:t>
            </a:r>
            <a:endParaRPr sz="2200" dirty="0">
              <a:solidFill>
                <a:srgbClr val="22627E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 err="1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/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AE591E4C-2E5F-904C-A40F-422A69EA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FBAC6736-5D42-AA97-3310-F73033C22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4448"/>
            <a:ext cx="10799700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dirty="0">
                <a:solidFill>
                  <a:srgbClr val="22627E"/>
                </a:solidFill>
              </a:rPr>
              <a:t>Objeto </a:t>
            </a:r>
            <a:r>
              <a:rPr lang="es-ES" sz="2700" b="1" dirty="0" err="1">
                <a:solidFill>
                  <a:srgbClr val="22627E"/>
                </a:solidFill>
              </a:rPr>
              <a:t>Event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Es un </a:t>
            </a:r>
            <a:r>
              <a:rPr lang="en-US" sz="2000" dirty="0" err="1">
                <a:solidFill>
                  <a:srgbClr val="22627E"/>
                </a:solidFill>
              </a:rPr>
              <a:t>objeto</a:t>
            </a:r>
            <a:r>
              <a:rPr lang="en-US" sz="2000" dirty="0">
                <a:solidFill>
                  <a:srgbClr val="22627E"/>
                </a:solidFill>
              </a:rPr>
              <a:t> (API) que </a:t>
            </a:r>
            <a:r>
              <a:rPr lang="en-US" sz="2000" dirty="0" err="1">
                <a:solidFill>
                  <a:srgbClr val="22627E"/>
                </a:solidFill>
              </a:rPr>
              <a:t>nos</a:t>
            </a:r>
            <a:br>
              <a:rPr lang="en-US" sz="2000" dirty="0">
                <a:solidFill>
                  <a:srgbClr val="22627E"/>
                </a:solidFill>
              </a:rPr>
            </a:b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suministra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el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navegador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Nos </a:t>
            </a:r>
            <a:r>
              <a:rPr lang="en-US" sz="2000" dirty="0" err="1">
                <a:solidFill>
                  <a:srgbClr val="22627E"/>
                </a:solidFill>
              </a:rPr>
              <a:t>permite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obtener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todos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los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br>
              <a:rPr lang="en-US" sz="2000" dirty="0">
                <a:solidFill>
                  <a:srgbClr val="22627E"/>
                </a:solidFill>
              </a:rPr>
            </a:br>
            <a:r>
              <a:rPr lang="en-US" sz="2000" dirty="0" err="1">
                <a:solidFill>
                  <a:srgbClr val="22627E"/>
                </a:solidFill>
              </a:rPr>
              <a:t>datos</a:t>
            </a:r>
            <a:r>
              <a:rPr lang="en-US" sz="2000" dirty="0">
                <a:solidFill>
                  <a:srgbClr val="22627E"/>
                </a:solidFill>
              </a:rPr>
              <a:t> y </a:t>
            </a:r>
            <a:r>
              <a:rPr lang="en-US" sz="2000" dirty="0" err="1">
                <a:solidFill>
                  <a:srgbClr val="22627E"/>
                </a:solidFill>
              </a:rPr>
              <a:t>métodos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sobre</a:t>
            </a:r>
            <a:r>
              <a:rPr lang="en-US" sz="2000" dirty="0">
                <a:solidFill>
                  <a:srgbClr val="22627E"/>
                </a:solidFill>
              </a:rPr>
              <a:t> lo </a:t>
            </a:r>
            <a:r>
              <a:rPr lang="en-US" sz="2000" dirty="0" err="1">
                <a:solidFill>
                  <a:srgbClr val="22627E"/>
                </a:solidFill>
              </a:rPr>
              <a:t>ocurrido</a:t>
            </a:r>
            <a:r>
              <a:rPr lang="en-US" sz="2000" dirty="0">
                <a:solidFill>
                  <a:srgbClr val="22627E"/>
                </a:solidFill>
              </a:rPr>
              <a:t>: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type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Target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Keydown</a:t>
            </a:r>
            <a:r>
              <a:rPr lang="en-US" sz="1600" dirty="0">
                <a:solidFill>
                  <a:srgbClr val="22627E"/>
                </a:solidFill>
              </a:rPr>
              <a:t>/</a:t>
            </a:r>
            <a:r>
              <a:rPr lang="en-US" sz="1600" dirty="0" err="1">
                <a:solidFill>
                  <a:srgbClr val="22627E"/>
                </a:solidFill>
              </a:rPr>
              <a:t>keyup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preventDefault</a:t>
            </a:r>
            <a:r>
              <a:rPr lang="en-US" sz="1600" dirty="0">
                <a:solidFill>
                  <a:srgbClr val="22627E"/>
                </a:solidFill>
              </a:rPr>
              <a:t>()</a:t>
            </a: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D589EBE8-916E-63BF-B309-B1F8C558E43A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 err="1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5D84B2B8-DB1A-B7FC-E29E-D6CE7574064C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868A5A09-A3F4-5013-C8FD-C82EF7C27735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2D15C12D-C788-ABD2-0083-D171CE29CA8D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909A6975-AD4D-C763-672C-F7338AD0AAE0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02E9817C-255F-E3DF-BCE2-3E03F91BBEB2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B10587ED-7E93-2317-4389-86111B12D11B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2F720793-E592-60C5-7D58-724FDC9067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ECFD8A41-BD73-2499-4981-7B688E56AF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The AS3 Event Object">
            <a:extLst>
              <a:ext uri="{FF2B5EF4-FFF2-40B4-BE49-F238E27FC236}">
                <a16:creationId xmlns:a16="http://schemas.microsoft.com/office/drawing/2014/main" id="{E007F23A-D1FC-FC8F-C7A8-21D38CBA6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" b="6602"/>
          <a:stretch/>
        </p:blipFill>
        <p:spPr bwMode="auto">
          <a:xfrm>
            <a:off x="5629668" y="1951762"/>
            <a:ext cx="5669762" cy="30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78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066FF80-4C02-8C2C-6782-DC42A736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17DA7CFD-570B-14F0-5176-6D3C95DFA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4448"/>
            <a:ext cx="10799700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 err="1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Listeners</a:t>
            </a: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-ES" sz="2700" b="1" i="0" u="none" dirty="0" err="1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Handlers</a:t>
            </a:r>
            <a:endParaRPr lang="es-ES" sz="27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s-ES" sz="2700" b="1" i="0" u="none" dirty="0">
              <a:solidFill>
                <a:srgbClr val="22627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Listeners</a:t>
            </a:r>
            <a:br>
              <a:rPr lang="en-US" sz="20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Argumentos</a:t>
            </a:r>
            <a:endParaRPr lang="en-US" sz="20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Más </a:t>
            </a:r>
            <a:r>
              <a:rPr lang="en-US" sz="1600" dirty="0" err="1">
                <a:solidFill>
                  <a:srgbClr val="22627E"/>
                </a:solidFill>
              </a:rPr>
              <a:t>sencillos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Un </a:t>
            </a:r>
            <a:r>
              <a:rPr lang="en-US" sz="1600" dirty="0" err="1">
                <a:solidFill>
                  <a:srgbClr val="22627E"/>
                </a:solidFill>
              </a:rPr>
              <a:t>único</a:t>
            </a:r>
            <a:r>
              <a:rPr lang="en-US" sz="1600" dirty="0">
                <a:solidFill>
                  <a:srgbClr val="22627E"/>
                </a:solidFill>
              </a:rPr>
              <a:t> listener </a:t>
            </a:r>
            <a:r>
              <a:rPr lang="en-US" sz="1600" dirty="0" err="1">
                <a:solidFill>
                  <a:srgbClr val="22627E"/>
                </a:solidFill>
              </a:rPr>
              <a:t>por</a:t>
            </a:r>
            <a:r>
              <a:rPr lang="en-US" sz="1600" dirty="0">
                <a:solidFill>
                  <a:srgbClr val="22627E"/>
                </a:solidFill>
              </a:rPr>
              <a:t> </a:t>
            </a:r>
            <a:r>
              <a:rPr lang="en-US" sz="1600" dirty="0" err="1">
                <a:solidFill>
                  <a:srgbClr val="22627E"/>
                </a:solidFill>
              </a:rPr>
              <a:t>elemento</a:t>
            </a:r>
            <a:endParaRPr lang="en-US" sz="16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Método</a:t>
            </a:r>
            <a:endParaRPr lang="en-US" sz="20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Más </a:t>
            </a:r>
            <a:r>
              <a:rPr lang="en-US" sz="1600" dirty="0" err="1">
                <a:solidFill>
                  <a:srgbClr val="22627E"/>
                </a:solidFill>
              </a:rPr>
              <a:t>complejos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Múltiples</a:t>
            </a:r>
            <a:r>
              <a:rPr lang="en-US" sz="1600" dirty="0">
                <a:solidFill>
                  <a:srgbClr val="22627E"/>
                </a:solidFill>
              </a:rPr>
              <a:t> </a:t>
            </a:r>
            <a:r>
              <a:rPr lang="en-US" sz="1600" dirty="0" err="1">
                <a:solidFill>
                  <a:srgbClr val="22627E"/>
                </a:solidFill>
              </a:rPr>
              <a:t>por</a:t>
            </a:r>
            <a:r>
              <a:rPr lang="en-US" sz="1600" dirty="0">
                <a:solidFill>
                  <a:srgbClr val="22627E"/>
                </a:solidFill>
              </a:rPr>
              <a:t> </a:t>
            </a:r>
            <a:r>
              <a:rPr lang="en-US" sz="1600" dirty="0" err="1">
                <a:solidFill>
                  <a:srgbClr val="22627E"/>
                </a:solidFill>
              </a:rPr>
              <a:t>elemento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Control de </a:t>
            </a:r>
            <a:r>
              <a:rPr lang="en-US" sz="1600" dirty="0" err="1">
                <a:solidFill>
                  <a:srgbClr val="22627E"/>
                </a:solidFill>
              </a:rPr>
              <a:t>propagación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Redimensiones</a:t>
            </a:r>
            <a:endParaRPr sz="2200" dirty="0">
              <a:solidFill>
                <a:srgbClr val="22627E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D0F9444D-C7BA-BFFA-665D-4B7B9C795D70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 err="1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9D369586-5870-A40E-EEB9-BDD90C19A240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68A4EFD7-A684-396B-84BE-BDFE32495EDD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8AB8A7EE-4DE5-ED60-C0E8-B85376848B0D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CBB0389E-518F-46E8-4171-ADC51DEDCB55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1CA44ED2-E3C3-89EE-E16C-603C047A9244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ED27DBB5-3181-3A6B-7D91-A25BAE1A5B6E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5445EA2A-F771-D5FD-06FE-7B25F9395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95E8237D-3A1F-6E19-F514-748059CBBA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ddEventListener JavaScript: What It Is and How To Use It - CoderPad">
            <a:extLst>
              <a:ext uri="{FF2B5EF4-FFF2-40B4-BE49-F238E27FC236}">
                <a16:creationId xmlns:a16="http://schemas.microsoft.com/office/drawing/2014/main" id="{4C447D45-4006-45A0-33C5-F3F01E49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47" y="2183533"/>
            <a:ext cx="5297266" cy="353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81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48B262F-F790-B4E3-03BC-0352D3E3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B1DE8995-A1CC-EA98-53B7-DCDC73BE5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4448"/>
            <a:ext cx="10799700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 err="1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Listeners</a:t>
            </a: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-ES" sz="2700" b="1" i="0" u="none" dirty="0" err="1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Handlers</a:t>
            </a:r>
            <a:endParaRPr lang="es-ES" sz="27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s-ES" sz="2700" b="1" i="0" u="none" dirty="0">
              <a:solidFill>
                <a:srgbClr val="22627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000" b="1" dirty="0" err="1">
                <a:solidFill>
                  <a:srgbClr val="22627E"/>
                </a:solidFill>
              </a:rPr>
              <a:t>Handlers</a:t>
            </a:r>
            <a:br>
              <a:rPr lang="es-ES" sz="2000" b="1" dirty="0">
                <a:solidFill>
                  <a:srgbClr val="22627E"/>
                </a:solidFill>
              </a:rPr>
            </a:br>
            <a:endParaRPr lang="es-ES"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s-ES" sz="2000" dirty="0" err="1">
                <a:solidFill>
                  <a:srgbClr val="22627E"/>
                </a:solidFill>
              </a:rPr>
              <a:t>Funcion</a:t>
            </a:r>
            <a:r>
              <a:rPr lang="es-ES" sz="2000" dirty="0">
                <a:solidFill>
                  <a:srgbClr val="22627E"/>
                </a:solidFill>
              </a:rPr>
              <a:t> que se ejecuta para “manejar”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s-ES" sz="2000" dirty="0">
                <a:solidFill>
                  <a:srgbClr val="22627E"/>
                </a:solidFill>
              </a:rPr>
              <a:t>Permiten implementar lógica dinámica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s-ES" sz="2000" dirty="0">
                <a:solidFill>
                  <a:srgbClr val="22627E"/>
                </a:solidFill>
              </a:rPr>
              <a:t>Reciben el objeto </a:t>
            </a:r>
            <a:r>
              <a:rPr lang="es-ES" sz="2000" dirty="0" err="1">
                <a:solidFill>
                  <a:srgbClr val="22627E"/>
                </a:solidFill>
              </a:rPr>
              <a:t>Event</a:t>
            </a:r>
            <a:r>
              <a:rPr lang="es-ES" sz="2000" dirty="0">
                <a:solidFill>
                  <a:srgbClr val="22627E"/>
                </a:solidFill>
              </a:rPr>
              <a:t> automáticamente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s-ES" sz="2000" dirty="0">
                <a:solidFill>
                  <a:srgbClr val="22627E"/>
                </a:solidFill>
              </a:rPr>
              <a:t>Funciones nominales o anónimas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ABDAEAC4-50E1-F65F-B636-2A255C573DFD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 err="1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70944DDF-1068-82C4-6B42-C981D9952592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848EE333-8935-2851-C909-072C72EFEFB1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56803581-BB68-60D8-B277-ACF89452FF44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9826B090-5281-14E5-060F-7CB0391A9AF4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0B6E7AF2-C509-E07A-29F8-3F2DFB49A852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253523AE-97AC-A6C4-DD93-BC80875F4184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A3701043-6FDA-AA94-92FF-83E0401768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B0595815-E73A-030A-93D9-0CABC77931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4" name="Picture 4" descr="Loading and unloading goods: How to get it right in your warehouse">
            <a:extLst>
              <a:ext uri="{FF2B5EF4-FFF2-40B4-BE49-F238E27FC236}">
                <a16:creationId xmlns:a16="http://schemas.microsoft.com/office/drawing/2014/main" id="{25A2096B-EF4C-4C8D-5AAF-4D7DA5392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716" y="1854102"/>
            <a:ext cx="5551209" cy="383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38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26139BB-61CA-D16D-47DF-EE6AC911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08331047-D51C-8210-AC55-A8D92CCB9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4448"/>
            <a:ext cx="10799700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Propagación</a:t>
            </a:r>
            <a:endParaRPr lang="es-ES" sz="27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s-ES" sz="2700" b="1" i="0" u="none" dirty="0">
              <a:solidFill>
                <a:srgbClr val="22627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 sz="2000" b="1" dirty="0">
                <a:solidFill>
                  <a:srgbClr val="22627E"/>
                </a:solidFill>
              </a:rPr>
            </a:b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Bubbling: </a:t>
            </a:r>
            <a:r>
              <a:rPr lang="en-US" sz="2000" dirty="0" err="1">
                <a:solidFill>
                  <a:srgbClr val="22627E"/>
                </a:solidFill>
              </a:rPr>
              <a:t>Ascendente</a:t>
            </a:r>
            <a:r>
              <a:rPr lang="en-US" sz="2000" dirty="0">
                <a:solidFill>
                  <a:srgbClr val="22627E"/>
                </a:solidFill>
              </a:rPr>
              <a:t> y natural 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Objetivo</a:t>
            </a:r>
            <a:r>
              <a:rPr lang="en-US" sz="2000" dirty="0">
                <a:solidFill>
                  <a:srgbClr val="22627E"/>
                </a:solidFill>
              </a:rPr>
              <a:t>: Es </a:t>
            </a:r>
            <a:r>
              <a:rPr lang="en-US" sz="2000" dirty="0" err="1">
                <a:solidFill>
                  <a:srgbClr val="22627E"/>
                </a:solidFill>
              </a:rPr>
              <a:t>el</a:t>
            </a:r>
            <a:r>
              <a:rPr lang="en-US" sz="2000" dirty="0">
                <a:solidFill>
                  <a:srgbClr val="22627E"/>
                </a:solidFill>
              </a:rPr>
              <a:t> element </a:t>
            </a:r>
            <a:r>
              <a:rPr lang="en-US" sz="2000" dirty="0" err="1">
                <a:solidFill>
                  <a:srgbClr val="22627E"/>
                </a:solidFill>
              </a:rPr>
              <a:t>donde</a:t>
            </a:r>
            <a:r>
              <a:rPr lang="en-US" sz="2000" dirty="0">
                <a:solidFill>
                  <a:srgbClr val="22627E"/>
                </a:solidFill>
              </a:rPr>
              <a:t> se </a:t>
            </a:r>
            <a:r>
              <a:rPr lang="en-US" sz="2000" dirty="0" err="1">
                <a:solidFill>
                  <a:srgbClr val="22627E"/>
                </a:solidFill>
              </a:rPr>
              <a:t>originó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Captura</a:t>
            </a:r>
            <a:r>
              <a:rPr lang="en-US" sz="2000" dirty="0">
                <a:solidFill>
                  <a:srgbClr val="22627E"/>
                </a:solidFill>
              </a:rPr>
              <a:t>: </a:t>
            </a:r>
            <a:r>
              <a:rPr lang="en-US" sz="2000" dirty="0" err="1">
                <a:solidFill>
                  <a:srgbClr val="22627E"/>
                </a:solidFill>
              </a:rPr>
              <a:t>Descendente</a:t>
            </a:r>
            <a:r>
              <a:rPr lang="en-US" sz="2000" dirty="0">
                <a:solidFill>
                  <a:srgbClr val="22627E"/>
                </a:solidFill>
              </a:rPr>
              <a:t> que ha de </a:t>
            </a:r>
            <a:r>
              <a:rPr lang="en-US" sz="2000" dirty="0" err="1">
                <a:solidFill>
                  <a:srgbClr val="22627E"/>
                </a:solidFill>
              </a:rPr>
              <a:t>forzarse</a:t>
            </a:r>
            <a:endParaRPr lang="en-US" sz="2000" dirty="0">
              <a:solidFill>
                <a:srgbClr val="22627E"/>
              </a:solidFill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934E03E4-4234-C3C4-93E7-0DE8578169C0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 err="1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CD74D464-6ED0-8FEA-0EB6-964397F98264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460CD412-B063-BD24-F835-76AA0D6789F1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6BADA7FE-404F-32B6-F573-1AF7E651EC06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E4B3490F-684A-3318-0084-8043BD3FD6D0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D36F31D6-EA9F-2510-13D3-D26A58ADA2ED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8194BB32-7999-BC69-832D-91508BA73DF7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0BCF656A-9069-60BA-F7AB-04C808EF62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7194A57E-6165-CA9A-6941-D644F20F57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Boiling, bubbling water effect (less than 20 minutes) [promoted ...">
            <a:extLst>
              <a:ext uri="{FF2B5EF4-FFF2-40B4-BE49-F238E27FC236}">
                <a16:creationId xmlns:a16="http://schemas.microsoft.com/office/drawing/2014/main" id="{6B418355-E9E7-DE18-8674-8770D643C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2" r="10732"/>
          <a:stretch/>
        </p:blipFill>
        <p:spPr bwMode="auto">
          <a:xfrm>
            <a:off x="6630122" y="2033090"/>
            <a:ext cx="471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13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15B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3"/>
          <p:cNvGrpSpPr/>
          <p:nvPr/>
        </p:nvGrpSpPr>
        <p:grpSpPr>
          <a:xfrm>
            <a:off x="4849767" y="6163521"/>
            <a:ext cx="2355741" cy="307994"/>
            <a:chOff x="270050" y="6325600"/>
            <a:chExt cx="3464325" cy="453600"/>
          </a:xfrm>
        </p:grpSpPr>
        <p:sp>
          <p:nvSpPr>
            <p:cNvPr id="352" name="Google Shape;352;p33"/>
            <p:cNvSpPr/>
            <p:nvPr/>
          </p:nvSpPr>
          <p:spPr>
            <a:xfrm>
              <a:off x="270050" y="6325600"/>
              <a:ext cx="3249556" cy="453600"/>
            </a:xfrm>
            <a:custGeom>
              <a:avLst/>
              <a:gdLst/>
              <a:ahLst/>
              <a:cxnLst/>
              <a:rect l="l" t="t" r="r" b="b"/>
              <a:pathLst>
                <a:path w="3249556" h="453600" extrusionOk="0">
                  <a:moveTo>
                    <a:pt x="226800" y="0"/>
                  </a:moveTo>
                  <a:lnTo>
                    <a:pt x="3022756" y="0"/>
                  </a:lnTo>
                  <a:cubicBezTo>
                    <a:pt x="3148014" y="0"/>
                    <a:pt x="3249556" y="101542"/>
                    <a:pt x="3249556" y="226800"/>
                  </a:cubicBezTo>
                  <a:lnTo>
                    <a:pt x="3249556" y="226800"/>
                  </a:lnTo>
                  <a:cubicBezTo>
                    <a:pt x="3249556" y="352058"/>
                    <a:pt x="3148014" y="453600"/>
                    <a:pt x="3022756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340084" y="6367687"/>
              <a:ext cx="3132833" cy="364751"/>
            </a:xfrm>
            <a:custGeom>
              <a:avLst/>
              <a:gdLst/>
              <a:ahLst/>
              <a:cxnLst/>
              <a:rect l="l" t="t" r="r" b="b"/>
              <a:pathLst>
                <a:path w="3132833" h="364751" extrusionOk="0">
                  <a:moveTo>
                    <a:pt x="182376" y="0"/>
                  </a:moveTo>
                  <a:lnTo>
                    <a:pt x="2950458" y="0"/>
                  </a:lnTo>
                  <a:cubicBezTo>
                    <a:pt x="3051181" y="0"/>
                    <a:pt x="3132834" y="81653"/>
                    <a:pt x="3132834" y="182376"/>
                  </a:cubicBezTo>
                  <a:lnTo>
                    <a:pt x="3132833" y="182376"/>
                  </a:lnTo>
                  <a:cubicBezTo>
                    <a:pt x="3132833" y="283099"/>
                    <a:pt x="3051180" y="364752"/>
                    <a:pt x="2950457" y="364752"/>
                  </a:cubicBezTo>
                  <a:lnTo>
                    <a:pt x="182376" y="364751"/>
                  </a:lnTo>
                  <a:cubicBezTo>
                    <a:pt x="81653" y="364751"/>
                    <a:pt x="0" y="283098"/>
                    <a:pt x="0" y="182375"/>
                  </a:cubicBezTo>
                  <a:lnTo>
                    <a:pt x="0" y="182376"/>
                  </a:lnTo>
                  <a:cubicBezTo>
                    <a:pt x="0" y="81653"/>
                    <a:pt x="81653" y="0"/>
                    <a:pt x="182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33"/>
          <p:cNvSpPr txBox="1"/>
          <p:nvPr/>
        </p:nvSpPr>
        <p:spPr>
          <a:xfrm>
            <a:off x="4978462" y="6205287"/>
            <a:ext cx="19938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175" tIns="62175" rIns="62175" bIns="621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33"/>
          <p:cNvGrpSpPr/>
          <p:nvPr/>
        </p:nvGrpSpPr>
        <p:grpSpPr>
          <a:xfrm>
            <a:off x="1271525" y="344550"/>
            <a:ext cx="9648724" cy="5666576"/>
            <a:chOff x="3401941" y="1476236"/>
            <a:chExt cx="5331965" cy="3329559"/>
          </a:xfrm>
        </p:grpSpPr>
        <p:pic>
          <p:nvPicPr>
            <p:cNvPr id="358" name="Google Shape;358;p33"/>
            <p:cNvPicPr preferRelativeResize="0"/>
            <p:nvPr/>
          </p:nvPicPr>
          <p:blipFill rotWithShape="1">
            <a:blip r:embed="rId3">
              <a:alphaModFix/>
            </a:blip>
            <a:srcRect b="-2070"/>
            <a:stretch/>
          </p:blipFill>
          <p:spPr>
            <a:xfrm>
              <a:off x="3401941" y="1476236"/>
              <a:ext cx="5331965" cy="3329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3"/>
            <p:cNvSpPr txBox="1"/>
            <p:nvPr/>
          </p:nvSpPr>
          <p:spPr>
            <a:xfrm>
              <a:off x="4011633" y="2253263"/>
              <a:ext cx="769354" cy="2415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FFE"/>
                </a:buClr>
                <a:buSzPts val="1300"/>
                <a:buFont typeface="Roboto"/>
                <a:buNone/>
              </a:pPr>
              <a:r>
                <a:rPr lang="en-US" sz="1300" b="1" i="0" u="none" strike="noStrike" cap="none">
                  <a:solidFill>
                    <a:srgbClr val="FAFFFE"/>
                  </a:solidFill>
                  <a:latin typeface="Roboto"/>
                  <a:ea typeface="Roboto"/>
                  <a:cs typeface="Roboto"/>
                  <a:sym typeface="Roboto"/>
                </a:rPr>
                <a:t>USA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0" name="Google Shape;360;p33"/>
            <p:cNvCxnSpPr/>
            <p:nvPr/>
          </p:nvCxnSpPr>
          <p:spPr>
            <a:xfrm rot="10800000">
              <a:off x="6366435" y="2308445"/>
              <a:ext cx="3957" cy="0"/>
            </a:xfrm>
            <a:prstGeom prst="straightConnector1">
              <a:avLst/>
            </a:prstGeom>
            <a:noFill/>
            <a:ln w="9525" cap="flat" cmpd="sng">
              <a:solidFill>
                <a:srgbClr val="6ACBB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61" name="Google Shape;36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2262" y="6237862"/>
            <a:ext cx="1746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3"/>
          <p:cNvSpPr/>
          <p:nvPr/>
        </p:nvSpPr>
        <p:spPr>
          <a:xfrm>
            <a:off x="6425707" y="2234708"/>
            <a:ext cx="132600" cy="12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3549490" y="371961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737614" y="256484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9632935" y="467684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3767137" y="572548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4570721" y="4224037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846437" y="2523933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3549490" y="3777787"/>
            <a:ext cx="126600" cy="14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3911416" y="3748699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4504411" y="4162975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656811" y="4315375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3960441" y="5640192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6122576" y="2503780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6290459" y="2503780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10197650" y="4719172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9566625" y="4780234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3209426" y="2951834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3521260" y="3128249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5697983" y="2564842"/>
            <a:ext cx="282600" cy="26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5631673" y="2624381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726212" y="2668234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684751" y="2761787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833737" y="2761787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3526412" y="4285099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3933605" y="4468455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3209426" y="3597488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2647451" y="3200399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2933965" y="3327733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0" name="Google Shape;390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5850" y="5350400"/>
            <a:ext cx="2424023" cy="658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">
      <a:dk1>
        <a:srgbClr val="01415B"/>
      </a:dk1>
      <a:lt1>
        <a:srgbClr val="FFFFFF"/>
      </a:lt1>
      <a:dk2>
        <a:srgbClr val="3298B3"/>
      </a:dk2>
      <a:lt2>
        <a:srgbClr val="D3DFE1"/>
      </a:lt2>
      <a:accent1>
        <a:srgbClr val="01415B"/>
      </a:accent1>
      <a:accent2>
        <a:srgbClr val="3298B3"/>
      </a:accent2>
      <a:accent3>
        <a:srgbClr val="6ACBB8"/>
      </a:accent3>
      <a:accent4>
        <a:srgbClr val="D3DFE1"/>
      </a:accent4>
      <a:accent5>
        <a:srgbClr val="FAFFFF"/>
      </a:accent5>
      <a:accent6>
        <a:srgbClr val="FAFFFF"/>
      </a:accent6>
      <a:hlink>
        <a:srgbClr val="6ACBB8"/>
      </a:hlink>
      <a:folHlink>
        <a:srgbClr val="D3DF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diapositivas.pptx" id="{18A3BBE2-1355-4BB3-92FA-F756FC965AC5}" vid="{C48CCE1C-4578-46C3-87C5-75FCDEC48C4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diapositivas</Template>
  <TotalTime>426</TotalTime>
  <Words>193</Words>
  <Application>Microsoft Office PowerPoint</Application>
  <PresentationFormat>Panorámica</PresentationFormat>
  <Paragraphs>66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Calibri</vt:lpstr>
      <vt:lpstr>Roboto</vt:lpstr>
      <vt:lpstr>Arial</vt:lpstr>
      <vt:lpstr>Tema de Office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 Puerta</dc:creator>
  <cp:lastModifiedBy>Rafa Puerta</cp:lastModifiedBy>
  <cp:revision>1</cp:revision>
  <dcterms:created xsi:type="dcterms:W3CDTF">2025-01-22T08:58:55Z</dcterms:created>
  <dcterms:modified xsi:type="dcterms:W3CDTF">2025-01-22T16:05:11Z</dcterms:modified>
</cp:coreProperties>
</file>